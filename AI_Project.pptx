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5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 Wins</c:v>
                </c:pt>
              </c:strCache>
            </c:strRef>
          </c:tx>
          <c:spPr>
            <a:solidFill>
              <a:srgbClr val="1B6CA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S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k=2 vs k=5</c:v>
                </c:pt>
                <c:pt idx="1">
                  <c:v>k=2 vs k=10</c:v>
                </c:pt>
                <c:pt idx="2">
                  <c:v>k=10 vs k=5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1F-844D-B4B6-E8BA0AA8A0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 Wins</c:v>
                </c:pt>
              </c:strCache>
            </c:strRef>
          </c:tx>
          <c:spPr>
            <a:solidFill>
              <a:srgbClr val="D04A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S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k=2 vs k=5</c:v>
                </c:pt>
                <c:pt idx="1">
                  <c:v>k=2 vs k=10</c:v>
                </c:pt>
                <c:pt idx="2">
                  <c:v>k=10 vs k=5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71F-844D-B4B6-E8BA0AA8A0E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SA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SA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475569"/>
              </a:solidFill>
            </a:defRPr>
          </a:pPr>
          <a:endParaRPr lang="en-SA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0366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Hamad-waleed/agent_xo" TargetMode="External"/><Relationship Id="rId5" Type="http://schemas.openxmlformats.org/officeDocument/2006/relationships/hyperlink" Target="https://agentxo-q4tarjdbowy2auxjczhzfu.streamlit.app/" TargetMode="Externa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7170"/>
            <a:ext cx="5120640" cy="5143500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  <p:txBody>
          <a:bodyPr/>
          <a:lstStyle/>
          <a:p>
            <a:pPr marL="0" algn="l" defTabSz="914400" rtl="0" eaLnBrk="1" latinLnBrk="0" hangingPunct="1"/>
            <a:endParaRPr lang="en-SA" dirty="0"/>
          </a:p>
        </p:txBody>
      </p:sp>
      <p:sp>
        <p:nvSpPr>
          <p:cNvPr id="3" name="Shape 1"/>
          <p:cNvSpPr/>
          <p:nvPr/>
        </p:nvSpPr>
        <p:spPr>
          <a:xfrm>
            <a:off x="5669280" y="1645920"/>
            <a:ext cx="2743200" cy="0"/>
          </a:xfrm>
          <a:prstGeom prst="line">
            <a:avLst/>
          </a:prstGeom>
          <a:noFill/>
          <a:ln w="254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731520"/>
            <a:ext cx="0" cy="2743200"/>
          </a:xfrm>
          <a:prstGeom prst="line">
            <a:avLst/>
          </a:prstGeom>
          <a:noFill/>
          <a:ln w="25400">
            <a:solidFill>
              <a:srgbClr val="1B6C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560320"/>
            <a:ext cx="2743200" cy="0"/>
          </a:xfrm>
          <a:prstGeom prst="line">
            <a:avLst/>
          </a:prstGeom>
          <a:noFill/>
          <a:ln w="25400">
            <a:solidFill>
              <a:srgbClr val="1B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731520"/>
            <a:ext cx="0" cy="2743200"/>
          </a:xfrm>
          <a:prstGeom prst="line">
            <a:avLst/>
          </a:prstGeom>
          <a:noFill/>
          <a:ln w="25400">
            <a:solidFill>
              <a:srgbClr val="1B6C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42432" y="804672"/>
            <a:ext cx="768096" cy="768096"/>
          </a:xfrm>
          <a:prstGeom prst="rect">
            <a:avLst/>
          </a:prstGeom>
          <a:solidFill>
            <a:srgbClr val="1A3550"/>
          </a:solidFill>
          <a:ln w="12700">
            <a:solidFill>
              <a:srgbClr val="1F4A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0" y="731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X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656832" y="1719072"/>
            <a:ext cx="768096" cy="768096"/>
          </a:xfrm>
          <a:prstGeom prst="rect">
            <a:avLst/>
          </a:prstGeom>
          <a:solidFill>
            <a:srgbClr val="1A3550"/>
          </a:solidFill>
          <a:ln w="12700">
            <a:solidFill>
              <a:srgbClr val="1F4A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645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X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571232" y="804672"/>
            <a:ext cx="768096" cy="768096"/>
          </a:xfrm>
          <a:prstGeom prst="rect">
            <a:avLst/>
          </a:prstGeom>
          <a:solidFill>
            <a:srgbClr val="1A3550"/>
          </a:solidFill>
          <a:ln w="12700">
            <a:solidFill>
              <a:srgbClr val="1F4A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731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X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656832" y="804672"/>
            <a:ext cx="768096" cy="768096"/>
          </a:xfrm>
          <a:prstGeom prst="rect">
            <a:avLst/>
          </a:prstGeom>
          <a:solidFill>
            <a:srgbClr val="0F2030"/>
          </a:solidFill>
          <a:ln w="12700">
            <a:solidFill>
              <a:srgbClr val="1F4A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731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BA8D8"/>
                </a:solidFill>
              </a:rPr>
              <a:t>O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742432" y="2633472"/>
            <a:ext cx="768096" cy="768096"/>
          </a:xfrm>
          <a:prstGeom prst="rect">
            <a:avLst/>
          </a:prstGeom>
          <a:solidFill>
            <a:srgbClr val="0F2030"/>
          </a:solidFill>
          <a:ln w="12700">
            <a:solidFill>
              <a:srgbClr val="1F4A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BA8D8"/>
                </a:solidFill>
              </a:rPr>
              <a:t>O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" y="8229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</a:rPr>
              <a:t>3-Pieces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457200" y="15544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5A623"/>
                </a:solidFill>
              </a:rPr>
              <a:t>Tic-Tac-Toe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457200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4A3B8"/>
                </a:solidFill>
              </a:rPr>
              <a:t>AI Agents: Alpha-Beta &amp; MCTS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4206240" cy="0"/>
          </a:xfrm>
          <a:prstGeom prst="line">
            <a:avLst/>
          </a:prstGeom>
          <a:noFill/>
          <a:ln w="12700">
            <a:solidFill>
              <a:srgbClr val="1B6C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90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B9FC4"/>
                </a:solidFill>
              </a:rPr>
              <a:t>Mohammed Lafi Almutairi  •  442015682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401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B9FC4"/>
                </a:solidFill>
              </a:rPr>
              <a:t>Hamad Waleed Altuwayjiri  •  445007860</a:t>
            </a:r>
            <a:endParaRPr lang="ar-SA" sz="1200" dirty="0">
              <a:solidFill>
                <a:srgbClr val="7B9FC4"/>
              </a:solidFill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7B9FC4"/>
                </a:solidFill>
              </a:rPr>
              <a:t>Mohamed Abdulrazaq alfagih • 445014756</a:t>
            </a:r>
            <a:endParaRPr lang="ar-SA" sz="1200" dirty="0">
              <a:solidFill>
                <a:srgbClr val="7B9FC4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3840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IMSIU  •  CS 1360 – Artificial Intelligence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182880"/>
            <a:ext cx="548640" cy="5486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92608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91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Game Overview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09728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11704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What is 3-Piece TicTacToe?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572768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4155"/>
                </a:solidFill>
              </a:rPr>
              <a:t>Each player places pieces one at a time,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4155"/>
                </a:solidFill>
              </a:rPr>
              <a:t>but can only have </a:t>
            </a:r>
            <a:r>
              <a:rPr lang="en-US" sz="1250" b="1" dirty="0">
                <a:solidFill>
                  <a:srgbClr val="334155"/>
                </a:solidFill>
              </a:rPr>
              <a:t>3 pieces on the board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4155"/>
                </a:solidFill>
              </a:rPr>
              <a:t>at once.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4155"/>
                </a:solidFill>
              </a:rPr>
              <a:t> 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4155"/>
                </a:solidFill>
              </a:rPr>
              <a:t>When a 4th piece is placed, the </a:t>
            </a:r>
            <a:r>
              <a:rPr lang="en-US" sz="1250" b="1" dirty="0">
                <a:solidFill>
                  <a:srgbClr val="334155"/>
                </a:solidFill>
              </a:rPr>
              <a:t>oldest piece disappears.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4155"/>
                </a:solidFill>
              </a:rPr>
              <a:t> 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4155"/>
                </a:solidFill>
              </a:rPr>
              <a:t>The board keeps changing — no easy draws!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3383280"/>
            <a:ext cx="356616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34564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</a:rPr>
              <a:t>vs. Standard TicTacToe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37033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Pieces stay forever → board fills up → draw is common.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Here pieces expire → game stays alive &amp; tactical.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1097280"/>
            <a:ext cx="42519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5488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Project Goals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754880" y="1773936"/>
            <a:ext cx="256032" cy="25603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1773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102352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Build AI agents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102352" y="19933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Alpha-Beta Pruning (Minimax) and MCTS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54880" y="2487168"/>
            <a:ext cx="256032" cy="25603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0" y="2487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102352" y="24505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Compare performance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102352" y="270662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100 games per match-up, multiple settings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754880" y="3200400"/>
            <a:ext cx="256032" cy="25603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54880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102352" y="31638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Graphical interface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02352" y="34198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Streamlit app — playable from browser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754880" y="3913632"/>
            <a:ext cx="256032" cy="25603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54880" y="3913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102352" y="38770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Human vs AI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102352" y="41330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Adjustable difficulty via depth slider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182880"/>
            <a:ext cx="548640" cy="5486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92608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91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Game Representation &amp; Design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05156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1704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Board as Integer Array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6CA8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1261872" y="1600200"/>
            <a:ext cx="0" cy="2139696"/>
          </a:xfrm>
          <a:prstGeom prst="line">
            <a:avLst/>
          </a:prstGeom>
          <a:noFill/>
          <a:ln w="12700">
            <a:solidFill>
              <a:srgbClr val="C7D9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61872" y="1600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CA3AF"/>
                </a:solidFill>
              </a:rPr>
              <a:t>0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975104" y="1600200"/>
            <a:ext cx="0" cy="2139696"/>
          </a:xfrm>
          <a:prstGeom prst="line">
            <a:avLst/>
          </a:prstGeom>
          <a:noFill/>
          <a:ln w="12700">
            <a:solidFill>
              <a:srgbClr val="C7D9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75104" y="1600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04A4A"/>
                </a:solidFill>
              </a:rPr>
              <a:t>-1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2313432"/>
            <a:ext cx="2139696" cy="0"/>
          </a:xfrm>
          <a:prstGeom prst="line">
            <a:avLst/>
          </a:prstGeom>
          <a:noFill/>
          <a:ln w="12700">
            <a:solidFill>
              <a:srgbClr val="C7D9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31343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CA3AF"/>
                </a:solidFill>
              </a:rPr>
              <a:t>0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48640" y="2313432"/>
            <a:ext cx="2139696" cy="0"/>
          </a:xfrm>
          <a:prstGeom prst="line">
            <a:avLst/>
          </a:prstGeom>
          <a:noFill/>
          <a:ln w="12700">
            <a:solidFill>
              <a:srgbClr val="C7D9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261872" y="1600200"/>
            <a:ext cx="0" cy="2139696"/>
          </a:xfrm>
          <a:prstGeom prst="line">
            <a:avLst/>
          </a:prstGeom>
          <a:noFill/>
          <a:ln w="12700">
            <a:solidFill>
              <a:srgbClr val="C7D9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61872" y="231343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6CA8"/>
                </a:solidFill>
              </a:rPr>
              <a:t>1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548640" y="2313432"/>
            <a:ext cx="2139696" cy="0"/>
          </a:xfrm>
          <a:prstGeom prst="line">
            <a:avLst/>
          </a:prstGeom>
          <a:noFill/>
          <a:ln w="12700">
            <a:solidFill>
              <a:srgbClr val="C7D9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975104" y="1600200"/>
            <a:ext cx="0" cy="2139696"/>
          </a:xfrm>
          <a:prstGeom prst="line">
            <a:avLst/>
          </a:prstGeom>
          <a:noFill/>
          <a:ln w="12700">
            <a:solidFill>
              <a:srgbClr val="C7D9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975104" y="231343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CA3AF"/>
                </a:solidFill>
              </a:rPr>
              <a:t>0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548640" y="3026664"/>
            <a:ext cx="2139696" cy="0"/>
          </a:xfrm>
          <a:prstGeom prst="line">
            <a:avLst/>
          </a:prstGeom>
          <a:noFill/>
          <a:ln w="12700">
            <a:solidFill>
              <a:srgbClr val="C7D9E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302666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04A4A"/>
                </a:solidFill>
              </a:rPr>
              <a:t>-1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548640" y="3026664"/>
            <a:ext cx="2139696" cy="0"/>
          </a:xfrm>
          <a:prstGeom prst="line">
            <a:avLst/>
          </a:prstGeom>
          <a:noFill/>
          <a:ln w="12700">
            <a:solidFill>
              <a:srgbClr val="C7D9E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261872" y="1600200"/>
            <a:ext cx="0" cy="2139696"/>
          </a:xfrm>
          <a:prstGeom prst="line">
            <a:avLst/>
          </a:prstGeom>
          <a:noFill/>
          <a:ln w="12700">
            <a:solidFill>
              <a:srgbClr val="C7D9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61872" y="302666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CA3AF"/>
                </a:solidFill>
              </a:rPr>
              <a:t>0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548640" y="3026664"/>
            <a:ext cx="2139696" cy="0"/>
          </a:xfrm>
          <a:prstGeom prst="line">
            <a:avLst/>
          </a:prstGeom>
          <a:noFill/>
          <a:ln w="12700">
            <a:solidFill>
              <a:srgbClr val="C7D9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975104" y="1600200"/>
            <a:ext cx="0" cy="2139696"/>
          </a:xfrm>
          <a:prstGeom prst="line">
            <a:avLst/>
          </a:prstGeom>
          <a:noFill/>
          <a:ln w="12700">
            <a:solidFill>
              <a:srgbClr val="C7D9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975104" y="302666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6CA8"/>
                </a:solidFill>
              </a:rPr>
              <a:t>1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457200" y="3749040"/>
            <a:ext cx="237744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5488" y="38039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</a:rPr>
              <a:t>1</a:t>
            </a:r>
            <a:r>
              <a:rPr lang="en-US" sz="1100" dirty="0">
                <a:solidFill>
                  <a:srgbClr val="334155"/>
                </a:solidFill>
              </a:rPr>
              <a:t> = X    </a:t>
            </a:r>
            <a:r>
              <a:rPr lang="en-US" sz="1100" b="1" dirty="0">
                <a:solidFill>
                  <a:srgbClr val="D04A4A"/>
                </a:solidFill>
              </a:rPr>
              <a:t>-1</a:t>
            </a:r>
            <a:r>
              <a:rPr lang="en-US" sz="1100" dirty="0">
                <a:solidFill>
                  <a:srgbClr val="334155"/>
                </a:solidFill>
              </a:rPr>
              <a:t> = O    </a:t>
            </a:r>
            <a:r>
              <a:rPr lang="en-US" sz="1100" b="1" dirty="0">
                <a:solidFill>
                  <a:srgbClr val="9CA3AF"/>
                </a:solidFill>
              </a:rPr>
              <a:t>0</a:t>
            </a:r>
            <a:r>
              <a:rPr lang="en-US" sz="1100" dirty="0">
                <a:solidFill>
                  <a:srgbClr val="334155"/>
                </a:solidFill>
              </a:rPr>
              <a:t> = empty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75488" y="4133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Line sum = +3 → X wins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Line sum = −3 → O wins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3246120" y="1097280"/>
            <a:ext cx="5577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3246120" y="1097280"/>
            <a:ext cx="64008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429000" y="1152144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3-Piece Rule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3429000" y="1444752"/>
            <a:ext cx="5257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history[] tracks insertion order. When a 4th piece is placed, the oldest is auto-removed.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3246120" y="2057400"/>
            <a:ext cx="5577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3246120" y="2057400"/>
            <a:ext cx="64008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429000" y="2112264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Legal Moves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3429000" y="2404872"/>
            <a:ext cx="5257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get_empty_cells() returns all cells with value = 0. Used by both agents.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3246120" y="3017520"/>
            <a:ext cx="5577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3246120" y="3017520"/>
            <a:ext cx="64008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429000" y="3072384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Win Detection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3429000" y="3364992"/>
            <a:ext cx="5257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check_winner() tests all 8 lines. Infinite game prevention: 20-min limit + repeated-state detection.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3246120" y="3977640"/>
            <a:ext cx="5577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3246120" y="3977640"/>
            <a:ext cx="64008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429000" y="4032504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3429000" y="4325112"/>
            <a:ext cx="5257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Heuristic scores lines: ±1 (one piece), ±10 (two pieces), ±100 (win/loss).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182880"/>
            <a:ext cx="548640" cy="5486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92608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91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Implemented Algorithms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05156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051560"/>
            <a:ext cx="4160520" cy="4114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0698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Alpha-Beta Pruning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15544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</a:rPr>
              <a:t>Minimax</a:t>
            </a:r>
            <a:r>
              <a:rPr lang="en-US" sz="1150" dirty="0">
                <a:solidFill>
                  <a:srgbClr val="334155"/>
                </a:solidFill>
              </a:rPr>
              <a:t> with pruning — cuts branches that can't change the final decision (β ≤ α).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21488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Tested depths: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450592"/>
            <a:ext cx="38862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D1E3F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5054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</a:rPr>
              <a:t>k = 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508760" y="25054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Near instant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108960" y="25054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4A3B8"/>
                </a:solidFill>
              </a:rPr>
              <a:t>0.0024 s/move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3108960"/>
            <a:ext cx="388620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D1E3F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1638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</a:rPr>
              <a:t>k = 5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508760" y="31638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Recommended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108960" y="31638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4A3B8"/>
                </a:solidFill>
              </a:rPr>
              <a:t>0.022 s/move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3767328"/>
            <a:ext cx="38862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D1E3F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38221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</a:rPr>
              <a:t>k = 10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508760" y="38221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Strongest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108960" y="38221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4A3B8"/>
                </a:solidFill>
              </a:rPr>
              <a:t>0.52 s/move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663440" y="105156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1051560"/>
            <a:ext cx="4160520" cy="411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54880" y="10698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Monte Carlo Tree Search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754880" y="15544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Estimates move quality by running many random simulations instead of using a formula.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4754880" y="21488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4 phases per simulation: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754880" y="2523744"/>
            <a:ext cx="256032" cy="25603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54880" y="2523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084064" y="249631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Selection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084064" y="269748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UCB1 balances exploit vs explore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754880" y="3090672"/>
            <a:ext cx="256032" cy="25603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54880" y="3090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084064" y="306324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Expansion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5084064" y="326440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Add unexplored child node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4754880" y="3657600"/>
            <a:ext cx="256032" cy="25603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54880" y="3657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084064" y="363016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Simulation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5084064" y="383133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Random play to terminal state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4754880" y="4224528"/>
            <a:ext cx="256032" cy="25603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754880" y="4224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084064" y="419709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Backprop</a:t>
            </a:r>
            <a:endParaRPr lang="en-US" sz="1150" dirty="0"/>
          </a:p>
        </p:txBody>
      </p:sp>
      <p:sp>
        <p:nvSpPr>
          <p:cNvPr id="43" name="Text 40"/>
          <p:cNvSpPr/>
          <p:nvPr/>
        </p:nvSpPr>
        <p:spPr>
          <a:xfrm>
            <a:off x="5084064" y="439826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Update win/visit counts up tree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182880"/>
            <a:ext cx="548640" cy="5486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92608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91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Experimental Results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20040" y="10058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Alpha-Beta vs Alpha-Beta (100 games each)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298448"/>
          <a:ext cx="53035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3703320"/>
            <a:ext cx="5303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74320" y="3703320"/>
            <a:ext cx="64008" cy="11430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37856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MCTS vs MCTS → Nearly equal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405993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500 vs 200: 50–50  |  1000 vs 200: 43–57  |  500 vs 1000: 51–49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More simulations gave no consistent advantage.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806440" y="10058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Key Highlights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760720" y="1298448"/>
            <a:ext cx="3063240" cy="841248"/>
          </a:xfrm>
          <a:prstGeom prst="rect">
            <a:avLst/>
          </a:prstGeom>
          <a:solidFill>
            <a:srgbClr val="142336"/>
          </a:solidFill>
          <a:ln w="12700">
            <a:solidFill>
              <a:srgbClr val="1F3A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5760720" y="1408176"/>
            <a:ext cx="306324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</a:rPr>
              <a:t>100%</a:t>
            </a:r>
            <a:endParaRPr lang="en-US" sz="3600" dirty="0"/>
          </a:p>
        </p:txBody>
      </p:sp>
      <p:sp>
        <p:nvSpPr>
          <p:cNvPr id="15" name="Text 11"/>
          <p:cNvSpPr/>
          <p:nvPr/>
        </p:nvSpPr>
        <p:spPr>
          <a:xfrm>
            <a:off x="5760720" y="1786372"/>
            <a:ext cx="3063240" cy="319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AB higher depth always wins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760720" y="2286000"/>
            <a:ext cx="3063240" cy="841248"/>
          </a:xfrm>
          <a:prstGeom prst="rect">
            <a:avLst/>
          </a:prstGeom>
          <a:solidFill>
            <a:srgbClr val="142336"/>
          </a:solidFill>
          <a:ln w="12700">
            <a:solidFill>
              <a:srgbClr val="1F3A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760720" y="2395728"/>
            <a:ext cx="306324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BA8D8"/>
                </a:solidFill>
              </a:rPr>
              <a:t>3/100</a:t>
            </a:r>
            <a:endParaRPr lang="en-US" sz="3600" dirty="0"/>
          </a:p>
        </p:txBody>
      </p:sp>
      <p:sp>
        <p:nvSpPr>
          <p:cNvPr id="18" name="Text 14"/>
          <p:cNvSpPr/>
          <p:nvPr/>
        </p:nvSpPr>
        <p:spPr>
          <a:xfrm>
            <a:off x="5760720" y="2773924"/>
            <a:ext cx="3063240" cy="319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Best MCTS wins vs AB k=2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760720" y="3273552"/>
            <a:ext cx="3063240" cy="841248"/>
          </a:xfrm>
          <a:prstGeom prst="rect">
            <a:avLst/>
          </a:prstGeom>
          <a:solidFill>
            <a:srgbClr val="142336"/>
          </a:solidFill>
          <a:ln w="12700">
            <a:solidFill>
              <a:srgbClr val="1F3A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5760720" y="3383280"/>
            <a:ext cx="306324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BA8D8"/>
                </a:solidFill>
              </a:rPr>
              <a:t>6.3s</a:t>
            </a:r>
            <a:endParaRPr lang="en-US" sz="3600" dirty="0"/>
          </a:p>
        </p:txBody>
      </p:sp>
      <p:sp>
        <p:nvSpPr>
          <p:cNvPr id="21" name="Text 17"/>
          <p:cNvSpPr/>
          <p:nvPr/>
        </p:nvSpPr>
        <p:spPr>
          <a:xfrm>
            <a:off x="5760720" y="3761476"/>
            <a:ext cx="3063240" cy="319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AB k=10 first-move time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760720" y="4261104"/>
            <a:ext cx="3063240" cy="841248"/>
          </a:xfrm>
          <a:prstGeom prst="rect">
            <a:avLst/>
          </a:prstGeom>
          <a:solidFill>
            <a:srgbClr val="142336"/>
          </a:solidFill>
          <a:ln w="12700">
            <a:solidFill>
              <a:srgbClr val="1F3A5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5760720" y="4370832"/>
            <a:ext cx="306324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BA8D8"/>
                </a:solidFill>
              </a:rPr>
              <a:t>0.15s</a:t>
            </a:r>
            <a:endParaRPr lang="en-US" sz="3600" dirty="0"/>
          </a:p>
        </p:txBody>
      </p:sp>
      <p:sp>
        <p:nvSpPr>
          <p:cNvPr id="24" name="Text 20"/>
          <p:cNvSpPr/>
          <p:nvPr/>
        </p:nvSpPr>
        <p:spPr>
          <a:xfrm>
            <a:off x="5760720" y="4749028"/>
            <a:ext cx="3063240" cy="319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MCTS 1000 avg per move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182880"/>
            <a:ext cx="548640" cy="5486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92608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91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Analysis &amp; Discussion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051560"/>
            <a:ext cx="850392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051560"/>
            <a:ext cx="73152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" y="1115568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1E3A5F"/>
                </a:solidFill>
              </a:rPr>
              <a:t>At lower depths (≤3), Player O dominated (100% win rate) due to the myopic nature of Alpha-Beta. When depth increased to 5, Player X exploited the first-mover advantage — completely reversing results to 100% win rate for X.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2450592"/>
            <a:ext cx="2788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2450592"/>
            <a:ext cx="2788920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9768" y="2478024"/>
            <a:ext cx="329184" cy="329184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5" y="2543861"/>
            <a:ext cx="197510" cy="1975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86968" y="248716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Depth = Everything for AB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7200" y="2907792"/>
            <a:ext cx="2514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Every higher depth beats every lower depth 100–0. The heuristic works well — deeper lookahead always pays off.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246120" y="2450592"/>
            <a:ext cx="2788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46120" y="2450592"/>
            <a:ext cx="278892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355848" y="2478024"/>
            <a:ext cx="329184" cy="329184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1685" y="2543861"/>
            <a:ext cx="197510" cy="19751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13048" y="248716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MCTS Quantity ≠ Quality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383280" y="2907792"/>
            <a:ext cx="2514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More simulations don't help in MCTS vs MCTS — random rollouts can't capture the tactical precision needed.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172200" y="2450592"/>
            <a:ext cx="2788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172200" y="2450592"/>
            <a:ext cx="278892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281928" y="2478024"/>
            <a:ext cx="329184" cy="329184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7765" y="2543861"/>
            <a:ext cx="197510" cy="19751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39128" y="248716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AB wins overall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309360" y="2907792"/>
            <a:ext cx="2514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Alpha-Beta dominates across all cross-algorithm tests. The structured game rewards exact heuristic search over random simulation.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182880"/>
            <a:ext cx="548640" cy="5486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92608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91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Live Demo</a:t>
            </a:r>
            <a:endParaRPr lang="en-US" sz="2600" dirty="0"/>
          </a:p>
        </p:txBody>
      </p:sp>
      <p:pic>
        <p:nvPicPr>
          <p:cNvPr id="6" name="Image 1" descr="/home/claude/gui_screensh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051560"/>
            <a:ext cx="5394960" cy="317296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43600" y="1051560"/>
            <a:ext cx="2880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080760" y="11155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Framework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080760" y="13898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Streamlit (Python) — deployed on cloud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943600" y="2148840"/>
            <a:ext cx="2880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080760" y="22128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Supported Modes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080760" y="24871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AI vs AI  •  Human vs AI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Adjustable difficulty (depth slider)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943600" y="3246120"/>
            <a:ext cx="2880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080760" y="33101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Try it live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080760" y="35844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1B6CA8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agentxo.streamlit.app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20040" y="4343400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02920" y="44622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GitHub: 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325880" y="44622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1B6CA8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github.com/Hamad-waleed/agent_xo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0" y="932688"/>
            <a:ext cx="27432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4114800" cy="1536192"/>
          </a:xfrm>
          <a:prstGeom prst="rect">
            <a:avLst/>
          </a:prstGeom>
          <a:solidFill>
            <a:srgbClr val="0F2233"/>
          </a:solidFill>
          <a:ln w="12700">
            <a:solidFill>
              <a:srgbClr val="1F3A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29844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29844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Alpha-Beta &gt; MCTS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AB dominates in every cross-algorithm match-up. Heuristic precision beats random simulation for this game.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92040" y="1188720"/>
            <a:ext cx="4114800" cy="1536192"/>
          </a:xfrm>
          <a:prstGeom prst="rect">
            <a:avLst/>
          </a:prstGeom>
          <a:solidFill>
            <a:srgbClr val="0F2233"/>
          </a:solidFill>
          <a:ln w="12700">
            <a:solidFill>
              <a:srgbClr val="1F3A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56632" y="129844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69280" y="129844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Depth is decisive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4920" y="17830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Higher depth always beats lower depth 100–0. The first-mover advantage reverses at depth ≥ 5.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07792"/>
            <a:ext cx="4114800" cy="1536192"/>
          </a:xfrm>
          <a:prstGeom prst="rect">
            <a:avLst/>
          </a:prstGeom>
          <a:solidFill>
            <a:srgbClr val="0F2233"/>
          </a:solidFill>
          <a:ln w="12700">
            <a:solidFill>
              <a:srgbClr val="1F3A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" y="301752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3000" y="30175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MCTS: quality &gt; quantity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5021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More simulations don't help. Random rollouts lack the tactical precision this game demands.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92040" y="2907792"/>
            <a:ext cx="4114800" cy="1536192"/>
          </a:xfrm>
          <a:prstGeom prst="rect">
            <a:avLst/>
          </a:prstGeom>
          <a:solidFill>
            <a:srgbClr val="0F2233"/>
          </a:solidFill>
          <a:ln w="12700">
            <a:solidFill>
              <a:srgbClr val="1F3A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56632" y="301752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669280" y="30175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we learned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74920" y="35021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Game structure determines which AI works best. Structured games favor deterministic heuristic search.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Mohammed Lafi Almutairi  •  Hamad Waleed Altuwayjiri  |  IMSIU – CS 1360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722</Words>
  <Application>Microsoft Macintosh PowerPoint</Application>
  <PresentationFormat>On-screen Show (16:9)</PresentationFormat>
  <Paragraphs>141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3-Pieces Tic-Tac-Toe – AI Project</dc:title>
  <dc:subject>PptxGenJS Presentation</dc:subject>
  <dc:creator>PptxGenJS</dc:creator>
  <cp:lastModifiedBy>Mohammed Lafi Matar Almutairi</cp:lastModifiedBy>
  <cp:revision>2</cp:revision>
  <dcterms:created xsi:type="dcterms:W3CDTF">2026-05-19T06:34:43Z</dcterms:created>
  <dcterms:modified xsi:type="dcterms:W3CDTF">2026-05-19T07:18:08Z</dcterms:modified>
</cp:coreProperties>
</file>